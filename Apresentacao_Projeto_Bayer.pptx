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0"/>
            <a:ext cx="4572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Georgia"/>
              </a:rPr>
              <a:t>CONTROLE PREDITIVO · IA APLICADA À ENG.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Georgia"/>
              </a:rPr>
              <a:t>Digital Twin do</a:t>
            </a:r>
          </a:p>
          <a:p>
            <a:pPr algn="l"/>
            <a:r>
              <a:rPr sz="5000" b="1" i="0">
                <a:solidFill>
                  <a:srgbClr val="FFFFFF"/>
                </a:solidFill>
                <a:latin typeface="Georgia"/>
              </a:rPr>
              <a:t>Processo Bayer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Sistema de supervisão e controle com LangGraph + Fuzzy Adaptativo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+ Human-in-the-Loop (HITL)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532120"/>
            <a:ext cx="292608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projeto_bayer   ·   github.com/LuisGSVasconcelos/bayer-digital-twin   ·   v1.0.0   ·   agosto/2026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938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Contexto e objetivo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3230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Topologia do processo (Bayer)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9008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Arquitetura do sistema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74720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38144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Controlador Fuzzy Adaptativo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95927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41063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Gêmeo Digital: distúrbios simulados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80559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98847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3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Agente LangGraph + HITL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83479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01767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46903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Dashboard de supervisão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486399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04687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49823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Validação e métricas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989319"/>
            <a:ext cx="384048" cy="384048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007607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952743"/>
            <a:ext cx="9509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Contexto e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  <a:latin typeface="Calibri"/>
              </a:rPr>
              <a:t>O projeto modela um Gêmeo Digital do processo de produção de alumina (Processo Bayer), focado na etapa crítica de controle de nível dos decantadores, para evitar transbordamentos — especialmente sob chuva intensa.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10881360" cy="5486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6355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</a:rPr>
              <a:t>▸ </a:t>
            </a:r>
            <a:r>
              <a:rPr sz="1500" b="1">
                <a:solidFill>
                  <a:srgbClr val="111827"/>
                </a:solidFill>
              </a:rPr>
              <a:t>Supervisão inteligente</a:t>
            </a:r>
            <a:r>
              <a:rPr sz="1500">
                <a:solidFill>
                  <a:srgbClr val="111827"/>
                </a:solidFill>
              </a:rPr>
              <a:t> — de nível dos decantadores (PA/PB) em série/paralelo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</a:rPr>
              <a:t>▸ </a:t>
            </a:r>
            <a:r>
              <a:rPr sz="1500" b="1">
                <a:solidFill>
                  <a:srgbClr val="111827"/>
                </a:solidFill>
              </a:rPr>
              <a:t>Ambiente de testes (PoC)</a:t>
            </a:r>
            <a:r>
              <a:rPr sz="1500">
                <a:solidFill>
                  <a:srgbClr val="111827"/>
                </a:solidFill>
              </a:rPr>
              <a:t> — para validar estratégias de controle antes da planta real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38BDF8"/>
                </a:solidFill>
              </a:rPr>
              <a:t>▸ </a:t>
            </a:r>
            <a:r>
              <a:rPr sz="1500" b="1">
                <a:solidFill>
                  <a:srgbClr val="111827"/>
                </a:solidFill>
              </a:rPr>
              <a:t>Decisões determinísticas + IA</a:t>
            </a:r>
            <a:r>
              <a:rPr sz="1500">
                <a:solidFill>
                  <a:srgbClr val="111827"/>
                </a:solidFill>
              </a:rPr>
              <a:t> — controlador Fuzzy adaptativo orquestrado por LangGraph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611880"/>
            <a:ext cx="4206240" cy="2331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38862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DIFERENCIAIS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2976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HITL obrigatório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590288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ação física só após aprovação do operador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16636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Roda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4589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núcleo testado sem serviços externos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MODELO FÍSICO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Topologia do processo (simplificação Bayer)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783080" cy="1143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Digestão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7128" y="31272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880360"/>
            <a:ext cx="1783080" cy="1143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1272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Digestão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31272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880360"/>
            <a:ext cx="1783080" cy="114300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1272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Divisão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56616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fluxo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1272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880360"/>
            <a:ext cx="1783080" cy="1143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1272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56616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Decantador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31272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880360"/>
            <a:ext cx="1783080" cy="11430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31272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56616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Decantador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11827"/>
                </a:solidFill>
                <a:latin typeface="Calibri"/>
              </a:rPr>
              <a:t>Carga (bauxita + soda) atravessa os reatores de digestão em SÉRIE e é dividida entre os decantadores em PARALELO. Os decantadores são abertos e acumulam chuva na área exposta (150 m²) — daí o risco de transbordo sob temporal.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881360" cy="6400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SÉRIE — reatores de digestão (fechados)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69671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PARALELO — decantadores (abertos, 150 m²)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VISÃO DE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Arquitetura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</a:rPr>
              <a:t>▸ </a:t>
            </a:r>
            <a:r>
              <a:rPr sz="1300" b="1">
                <a:solidFill>
                  <a:srgbClr val="111827"/>
                </a:solidFill>
              </a:rPr>
              <a:t>LangGraph</a:t>
            </a:r>
            <a:r>
              <a:rPr sz="1300">
                <a:solidFill>
                  <a:srgbClr val="111827"/>
                </a:solidFill>
              </a:rPr>
              <a:t> — grafo de estados com ciclo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</a:rPr>
              <a:t>▸ </a:t>
            </a:r>
            <a:r>
              <a:rPr sz="1300" b="1">
                <a:solidFill>
                  <a:srgbClr val="111827"/>
                </a:solidFill>
              </a:rPr>
              <a:t>Fuzzy Adaptativo</a:t>
            </a:r>
            <a:r>
              <a:rPr sz="1300">
                <a:solidFill>
                  <a:srgbClr val="111827"/>
                </a:solidFill>
              </a:rPr>
              <a:t> — por decantador (PA/PB)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</a:rPr>
              <a:t>▸ </a:t>
            </a:r>
            <a:r>
              <a:rPr sz="1300" b="1">
                <a:solidFill>
                  <a:srgbClr val="111827"/>
                </a:solidFill>
              </a:rPr>
              <a:t>HITL</a:t>
            </a:r>
            <a:r>
              <a:rPr sz="1300">
                <a:solidFill>
                  <a:srgbClr val="111827"/>
                </a:solidFill>
              </a:rPr>
              <a:t> — interrupt_before p/ aprovação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</a:rPr>
              <a:t>▸ </a:t>
            </a:r>
            <a:r>
              <a:rPr sz="1300" b="1">
                <a:solidFill>
                  <a:srgbClr val="111827"/>
                </a:solidFill>
              </a:rPr>
              <a:t>Persistência</a:t>
            </a:r>
            <a:r>
              <a:rPr sz="1300">
                <a:solidFill>
                  <a:srgbClr val="111827"/>
                </a:solidFill>
              </a:rPr>
              <a:t> — InfluxDB (time-series)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38BDF8"/>
                </a:solidFill>
              </a:rPr>
              <a:t>▸ </a:t>
            </a:r>
            <a:r>
              <a:rPr sz="1300" b="1">
                <a:solidFill>
                  <a:srgbClr val="111827"/>
                </a:solidFill>
              </a:rPr>
              <a:t>Dashboard</a:t>
            </a:r>
            <a:r>
              <a:rPr sz="1300">
                <a:solidFill>
                  <a:srgbClr val="111827"/>
                </a:solidFill>
              </a:rPr>
              <a:t> — Streamlit + Plotly</a:t>
            </a:r>
          </a:p>
        </p:txBody>
      </p:sp>
      <p:pic>
        <p:nvPicPr>
          <p:cNvPr id="7" name="Picture 6" descr="arquitetura_processo_b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7360920" cy="4833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INTELIGÊNCIA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Controlador Fuzzy Adaptativo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864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Base Fuzzy — Mamdani + Centroide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</a:rPr>
              <a:t>▸ </a:t>
            </a:r>
            <a:r>
              <a:rPr sz="1200" b="1">
                <a:solidFill>
                  <a:srgbClr val="111827"/>
                </a:solidFill>
              </a:rPr>
              <a:t>Entradas</a:t>
            </a:r>
            <a:r>
              <a:rPr sz="1200">
                <a:solidFill>
                  <a:srgbClr val="111827"/>
                </a:solidFill>
              </a:rPr>
              <a:t> — erro (nível − setpoint) e derivada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</a:rPr>
              <a:t>▸ </a:t>
            </a:r>
            <a:r>
              <a:rPr sz="1200" b="1">
                <a:solidFill>
                  <a:srgbClr val="111827"/>
                </a:solidFill>
              </a:rPr>
              <a:t>5×5 regras</a:t>
            </a:r>
            <a:r>
              <a:rPr sz="1200">
                <a:solidFill>
                  <a:srgbClr val="111827"/>
                </a:solidFill>
              </a:rPr>
              <a:t> — set trapezoidais (NG…PG)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</a:rPr>
              <a:t>▸ </a:t>
            </a:r>
            <a:r>
              <a:rPr sz="1200" b="1">
                <a:solidFill>
                  <a:srgbClr val="111827"/>
                </a:solidFill>
              </a:rPr>
              <a:t>Saída</a:t>
            </a:r>
            <a:r>
              <a:rPr sz="1200">
                <a:solidFill>
                  <a:srgbClr val="111827"/>
                </a:solidFill>
              </a:rPr>
              <a:t> — abertura da válvula em [0,1]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38BDF8"/>
                </a:solidFill>
              </a:rPr>
              <a:t>▸ </a:t>
            </a:r>
            <a:r>
              <a:rPr sz="1200" b="1">
                <a:solidFill>
                  <a:srgbClr val="111827"/>
                </a:solidFill>
              </a:rPr>
              <a:t>Domínio do erro</a:t>
            </a:r>
            <a:r>
              <a:rPr sz="1200">
                <a:solidFill>
                  <a:srgbClr val="111827"/>
                </a:solidFill>
              </a:rPr>
              <a:t> — ±20% → até erro +35 (tanque cheio)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5212080" cy="3108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Adaptativo — ganho multiplicador 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51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nsolas"/>
              </a:rPr>
              <a:t>u_real = γ · u_fuzzy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ADCFC"/>
                </a:solidFill>
                <a:latin typeface="Consolas"/>
              </a:rPr>
              <a:t>Δγ = η·e·u + α·Δγ_prev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49039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Gradiente descendente com momentum + saturação γ ∈ [0.3, 2.5]. Aprende a agressividade da ação, com controlador independente por decantador.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881360" cy="868680"/>
          </a:xfrm>
          <a:prstGeom prst="round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Enquanto o fuzzy base define as regras, o ganho γ</a:t>
            </a:r>
          </a:p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adapta a escala ao longo do tempo.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5961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8BDF8"/>
                </a:solidFill>
                <a:latin typeface="Calibri"/>
              </a:rPr>
              <a:t>Melhoria reproduzível de RMSE no benchmark.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GÊMEO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Distúrbios operacionais simulados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Variação de alimentação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oscilação + ruído na vazão de entrada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4884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31343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Desgaste de bomba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71576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fouling — redução gradual da vazão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14884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1343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Stiction de válvula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71576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atuador não responde instantaneamente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8620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50791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Desbalanço de paralelo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divisão PA/PB varia (20–80%)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88620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4050791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Spike de 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45312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pico até +15% no nível medido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388620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050791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Diluição de TC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45312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água adicionada ao teor cáustico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350215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8815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Calibri"/>
              </a:rPr>
              <a:t>Variação de sílica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190488"/>
            <a:ext cx="30449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teor de SiO₂ oscila na bauxita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ORQUESTRAÇÃO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Agente LangGraph + 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828800" cy="10972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2491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670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11827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468880"/>
            <a:ext cx="1828800" cy="10972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72491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70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1182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468880"/>
            <a:ext cx="1828800" cy="10972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72491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calcular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670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11827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468880"/>
            <a:ext cx="182880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72491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aguardar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67004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1182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468880"/>
            <a:ext cx="1828800" cy="109728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2724912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executar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coleta → análise → calcular_controle → [risco crítico] aguardar_operador → executar_controle → END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O fluxo interrompe (interrupt_before) antes da ação física: abertura de válvula só ocorre após aprovação do operador, registrada via checkpoint (MemorySaver).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94960"/>
            <a:ext cx="108813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11827"/>
                </a:solidFill>
                <a:latin typeface="Calibri"/>
              </a:rPr>
              <a:t>⚠  Segurança: o LLM/IA não decide regras físicas. Criticidade é determinística (nível filtrado por EMA + chuva) e a validação humana é obrigatória.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SUPERVISÃO EM TEMPO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Georgia"/>
              </a:rPr>
              <a:t>Dashboard interativo (Streamlit + Plotly)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400" b="1">
                <a:solidFill>
                  <a:srgbClr val="38BDF8"/>
                </a:solidFill>
              </a:rPr>
              <a:t>▸ </a:t>
            </a:r>
            <a:r>
              <a:rPr sz="1400" b="1">
                <a:solidFill>
                  <a:srgbClr val="111827"/>
                </a:solidFill>
              </a:rPr>
              <a:t>KPIs</a:t>
            </a:r>
            <a:r>
              <a:rPr sz="1400">
                <a:solidFill>
                  <a:srgbClr val="111827"/>
                </a:solidFill>
              </a:rPr>
              <a:t> — níveis PA/PB, TC, perda de soda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8BDF8"/>
                </a:solidFill>
              </a:rPr>
              <a:t>▸ </a:t>
            </a:r>
            <a:r>
              <a:rPr sz="1400" b="1">
                <a:solidFill>
                  <a:srgbClr val="111827"/>
                </a:solidFill>
              </a:rPr>
              <a:t>Gráficos</a:t>
            </a:r>
            <a:r>
              <a:rPr sz="1400">
                <a:solidFill>
                  <a:srgbClr val="111827"/>
                </a:solidFill>
              </a:rPr>
              <a:t> — PV × SP × MV, química, distúrbios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8BDF8"/>
                </a:solidFill>
              </a:rPr>
              <a:t>▸ </a:t>
            </a:r>
            <a:r>
              <a:rPr sz="1400" b="1">
                <a:solidFill>
                  <a:srgbClr val="111827"/>
                </a:solidFill>
              </a:rPr>
              <a:t>Controles</a:t>
            </a:r>
            <a:r>
              <a:rPr sz="1400">
                <a:solidFill>
                  <a:srgbClr val="111827"/>
                </a:solidFill>
              </a:rPr>
              <a:t> — iniciar/parar e velocidade da simulação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8BDF8"/>
                </a:solidFill>
              </a:rPr>
              <a:t>▸ </a:t>
            </a:r>
            <a:r>
              <a:rPr sz="1400" b="1">
                <a:solidFill>
                  <a:srgbClr val="111827"/>
                </a:solidFill>
              </a:rPr>
              <a:t>HITL no painel</a:t>
            </a:r>
            <a:r>
              <a:rPr sz="1400">
                <a:solidFill>
                  <a:srgbClr val="111827"/>
                </a:solidFill>
              </a:rPr>
              <a:t> — botão de aprovação de ação emergencial</a:t>
            </a:r>
          </a:p>
          <a:p>
            <a:pPr>
              <a:spcAft>
                <a:spcPts val="1300"/>
              </a:spcAft>
            </a:pPr>
            <a:r>
              <a:rPr sz="1400" b="1">
                <a:solidFill>
                  <a:srgbClr val="38BDF8"/>
                </a:solidFill>
              </a:rPr>
              <a:t>▸ </a:t>
            </a:r>
            <a:r>
              <a:rPr sz="1400" b="1">
                <a:solidFill>
                  <a:srgbClr val="111827"/>
                </a:solidFill>
              </a:rPr>
              <a:t>Log de eventos</a:t>
            </a:r>
            <a:r>
              <a:rPr sz="1400">
                <a:solidFill>
                  <a:srgbClr val="111827"/>
                </a:solidFill>
              </a:rPr>
              <a:t> — últimos ciclos com alertas e variáveis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103120"/>
            <a:ext cx="489204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2103120"/>
            <a:ext cx="48920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5798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● ● ●   Sala de Controle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43200"/>
            <a:ext cx="201168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▶ Iniciar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383280"/>
            <a:ext cx="4434840" cy="5029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520440"/>
            <a:ext cx="1097280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3520440"/>
            <a:ext cx="82296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18320" y="3520440"/>
            <a:ext cx="640080" cy="228600"/>
          </a:xfrm>
          <a:prstGeom prst="rect">
            <a:avLst/>
          </a:prstGeom>
          <a:solidFill>
            <a:srgbClr val="D6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4114800"/>
            <a:ext cx="4434840" cy="5029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4206240"/>
            <a:ext cx="731520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4206240"/>
            <a:ext cx="1371600" cy="2743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4206240"/>
            <a:ext cx="109728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8463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Gráfico: Nível PA × Setpoint × Abertura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Validação e 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1463040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60604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204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testes automatizados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77440"/>
            <a:ext cx="260604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Calibri"/>
              </a:rPr>
              <a:t>8.14→7.81%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5204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RMSE (padrão → adaptativo)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60604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Calibri"/>
              </a:rPr>
              <a:t>+4.1%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melhoria reproduzível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2377440"/>
            <a:ext cx="2606040" cy="1828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60604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38BDF8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352044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runs com seeds fixas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FFFFF"/>
                </a:solidFill>
              </a:rPr>
              <a:t>Métrica honesta</a:t>
            </a:r>
            <a:r>
              <a:rPr sz="1350">
                <a:solidFill>
                  <a:srgbClr val="111827"/>
                </a:solidFill>
              </a:rPr>
              <a:t> — benchmark com seed fixa e repetições (média ± desvio), não alegação de execução única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FFFFF"/>
                </a:solidFill>
              </a:rPr>
              <a:t>Cobertura</a:t>
            </a:r>
            <a:r>
              <a:rPr sz="1350">
                <a:solidFill>
                  <a:srgbClr val="111827"/>
                </a:solidFill>
              </a:rPr>
              <a:t> — fuzzy, adaptativo, simulador físico e fluxo do agente (HITL)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FFFFF"/>
                </a:solidFill>
              </a:rPr>
              <a:t>Validação executada</a:t>
            </a:r>
            <a:r>
              <a:rPr sz="1350">
                <a:solidFill>
                  <a:srgbClr val="111827"/>
                </a:solidFill>
              </a:rPr>
              <a:t> — suíte reproduzida no ambiente local antes da conclusão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Digital Twin Processo Bayer  ·  projeto_bayer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Georgia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Conclusão e próximos passos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5029200" cy="3749039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Georgia"/>
              </a:rPr>
              <a:t>ENTREGUE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Gêmeo Digital multitanque (série + paralelo)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630168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Controle Fuzzy Adaptativo por tanque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19709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Agente LangGraph com HITL obrigatório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764024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Dashboard Streamlit + 23 testes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330952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Manual (PDF) e repositório público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2377440"/>
            <a:ext cx="5029200" cy="3749039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19" y="2606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Georgia"/>
              </a:rPr>
              <a:t>PRÓXIMOS PASSOS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9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Ingestão de documentos (Docling) p/ calibrar o Gêmeo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3630168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RAG no agente (explicação ao operador)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419709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Controle Preditivo (MPC)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19" y="4764024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▸ Integração com hardware (CLP/Modbus)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Disponível em github.com/LuisGSVasconcelos/bayer-digital-twin  ·  release v1.0.0 (manual 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